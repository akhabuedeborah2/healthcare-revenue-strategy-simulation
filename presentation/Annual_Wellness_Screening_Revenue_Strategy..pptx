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66" r:id="rId5"/>
    <p:sldId id="259" r:id="rId6"/>
    <p:sldId id="260" r:id="rId7"/>
    <p:sldId id="261" r:id="rId8"/>
    <p:sldId id="262" r:id="rId9"/>
    <p:sldId id="267" r:id="rId10"/>
    <p:sldId id="269" r:id="rId11"/>
    <p:sldId id="263" r:id="rId12"/>
    <p:sldId id="271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608D0-6473-4DB1-8409-7B15983E9C57}" v="50" dt="2026-01-31T22:36:18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62" autoAdjust="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orah Favour Akhabue" userId="a8880fc61f05ac60" providerId="LiveId" clId="{4AAFB36E-676B-47ED-A69D-412E39EC6887}"/>
    <pc:docChg chg="undo custSel addSld delSld modSld sldOrd">
      <pc:chgData name="Deborah Favour Akhabue" userId="a8880fc61f05ac60" providerId="LiveId" clId="{4AAFB36E-676B-47ED-A69D-412E39EC6887}" dt="2026-02-01T09:24:45.231" v="549" actId="20577"/>
      <pc:docMkLst>
        <pc:docMk/>
      </pc:docMkLst>
      <pc:sldChg chg="modSp mod">
        <pc:chgData name="Deborah Favour Akhabue" userId="a8880fc61f05ac60" providerId="LiveId" clId="{4AAFB36E-676B-47ED-A69D-412E39EC6887}" dt="2026-01-31T12:48:05.510" v="455"/>
        <pc:sldMkLst>
          <pc:docMk/>
          <pc:sldMk cId="1361127191" sldId="257"/>
        </pc:sldMkLst>
        <pc:spChg chg="mod">
          <ac:chgData name="Deborah Favour Akhabue" userId="a8880fc61f05ac60" providerId="LiveId" clId="{4AAFB36E-676B-47ED-A69D-412E39EC6887}" dt="2026-01-31T08:10:30.722" v="104" actId="255"/>
          <ac:spMkLst>
            <pc:docMk/>
            <pc:sldMk cId="1361127191" sldId="257"/>
            <ac:spMk id="2" creationId="{1BA64043-04FF-C5F6-91A3-425E7A1811DA}"/>
          </ac:spMkLst>
        </pc:spChg>
        <pc:spChg chg="mod">
          <ac:chgData name="Deborah Favour Akhabue" userId="a8880fc61f05ac60" providerId="LiveId" clId="{4AAFB36E-676B-47ED-A69D-412E39EC6887}" dt="2026-01-31T12:48:05.510" v="455"/>
          <ac:spMkLst>
            <pc:docMk/>
            <pc:sldMk cId="1361127191" sldId="257"/>
            <ac:spMk id="3" creationId="{46531411-015F-AF02-9B0A-0AF2521AEFB2}"/>
          </ac:spMkLst>
        </pc:spChg>
      </pc:sldChg>
      <pc:sldChg chg="modSp mod ord">
        <pc:chgData name="Deborah Favour Akhabue" userId="a8880fc61f05ac60" providerId="LiveId" clId="{4AAFB36E-676B-47ED-A69D-412E39EC6887}" dt="2026-01-31T22:35:09.686" v="539"/>
        <pc:sldMkLst>
          <pc:docMk/>
          <pc:sldMk cId="824860914" sldId="258"/>
        </pc:sldMkLst>
        <pc:spChg chg="mod">
          <ac:chgData name="Deborah Favour Akhabue" userId="a8880fc61f05ac60" providerId="LiveId" clId="{4AAFB36E-676B-47ED-A69D-412E39EC6887}" dt="2026-01-31T08:06:39.263" v="103" actId="20577"/>
          <ac:spMkLst>
            <pc:docMk/>
            <pc:sldMk cId="824860914" sldId="258"/>
            <ac:spMk id="2" creationId="{FEFDEBDE-A72C-2EE1-341F-A940F6189419}"/>
          </ac:spMkLst>
        </pc:spChg>
        <pc:spChg chg="mod">
          <ac:chgData name="Deborah Favour Akhabue" userId="a8880fc61f05ac60" providerId="LiveId" clId="{4AAFB36E-676B-47ED-A69D-412E39EC6887}" dt="2026-01-31T22:35:09.686" v="539"/>
          <ac:spMkLst>
            <pc:docMk/>
            <pc:sldMk cId="824860914" sldId="258"/>
            <ac:spMk id="3" creationId="{A72C1568-DA76-79F2-15B7-A7E3EAB7F753}"/>
          </ac:spMkLst>
        </pc:spChg>
      </pc:sldChg>
      <pc:sldChg chg="modSp mod">
        <pc:chgData name="Deborah Favour Akhabue" userId="a8880fc61f05ac60" providerId="LiveId" clId="{4AAFB36E-676B-47ED-A69D-412E39EC6887}" dt="2026-01-31T11:39:10.185" v="383" actId="20577"/>
        <pc:sldMkLst>
          <pc:docMk/>
          <pc:sldMk cId="2270876832" sldId="259"/>
        </pc:sldMkLst>
        <pc:spChg chg="mod">
          <ac:chgData name="Deborah Favour Akhabue" userId="a8880fc61f05ac60" providerId="LiveId" clId="{4AAFB36E-676B-47ED-A69D-412E39EC6887}" dt="2026-01-31T11:39:10.185" v="383" actId="20577"/>
          <ac:spMkLst>
            <pc:docMk/>
            <pc:sldMk cId="2270876832" sldId="259"/>
            <ac:spMk id="3" creationId="{9B2662F8-99E9-90BA-35E3-278C15ECFF4B}"/>
          </ac:spMkLst>
        </pc:spChg>
      </pc:sldChg>
      <pc:sldChg chg="addSp delSp modSp mod">
        <pc:chgData name="Deborah Favour Akhabue" userId="a8880fc61f05ac60" providerId="LiveId" clId="{4AAFB36E-676B-47ED-A69D-412E39EC6887}" dt="2026-01-31T22:31:45.558" v="537" actId="27636"/>
        <pc:sldMkLst>
          <pc:docMk/>
          <pc:sldMk cId="64333915" sldId="260"/>
        </pc:sldMkLst>
        <pc:spChg chg="mod">
          <ac:chgData name="Deborah Favour Akhabue" userId="a8880fc61f05ac60" providerId="LiveId" clId="{4AAFB36E-676B-47ED-A69D-412E39EC6887}" dt="2026-01-31T07:56:00.536" v="67" actId="14100"/>
          <ac:spMkLst>
            <pc:docMk/>
            <pc:sldMk cId="64333915" sldId="260"/>
            <ac:spMk id="2" creationId="{3E16EE07-E64E-108D-7884-1B7DC4A6809C}"/>
          </ac:spMkLst>
        </pc:spChg>
        <pc:spChg chg="mod">
          <ac:chgData name="Deborah Favour Akhabue" userId="a8880fc61f05ac60" providerId="LiveId" clId="{4AAFB36E-676B-47ED-A69D-412E39EC6887}" dt="2026-01-31T22:31:45.558" v="537" actId="27636"/>
          <ac:spMkLst>
            <pc:docMk/>
            <pc:sldMk cId="64333915" sldId="260"/>
            <ac:spMk id="3" creationId="{CB78E85C-C3BE-C19C-DED1-FC3B076E9F0A}"/>
          </ac:spMkLst>
        </pc:spChg>
        <pc:grpChg chg="add del">
          <ac:chgData name="Deborah Favour Akhabue" userId="a8880fc61f05ac60" providerId="LiveId" clId="{4AAFB36E-676B-47ED-A69D-412E39EC6887}" dt="2026-01-31T07:48:44.404" v="6" actId="26606"/>
          <ac:grpSpMkLst>
            <pc:docMk/>
            <pc:sldMk cId="64333915" sldId="260"/>
            <ac:grpSpMk id="10" creationId="{6258F736-B256-8039-9DC6-F4E49A5C5AD5}"/>
          </ac:grpSpMkLst>
        </pc:grpChg>
        <pc:grpChg chg="add del">
          <ac:chgData name="Deborah Favour Akhabue" userId="a8880fc61f05ac60" providerId="LiveId" clId="{4AAFB36E-676B-47ED-A69D-412E39EC6887}" dt="2026-01-31T07:48:44.404" v="6" actId="26606"/>
          <ac:grpSpMkLst>
            <pc:docMk/>
            <pc:sldMk cId="64333915" sldId="260"/>
            <ac:grpSpMk id="17" creationId="{6258F736-B256-8039-9DC6-F4E49A5C5AD5}"/>
          </ac:grpSpMkLst>
        </pc:grpChg>
        <pc:picChg chg="del mod">
          <ac:chgData name="Deborah Favour Akhabue" userId="a8880fc61f05ac60" providerId="LiveId" clId="{4AAFB36E-676B-47ED-A69D-412E39EC6887}" dt="2026-01-31T07:47:50.242" v="3" actId="478"/>
          <ac:picMkLst>
            <pc:docMk/>
            <pc:sldMk cId="64333915" sldId="260"/>
            <ac:picMk id="5" creationId="{D6158D26-04BE-AF65-7D7E-BE3F945D1268}"/>
          </ac:picMkLst>
        </pc:picChg>
        <pc:picChg chg="add del mod">
          <ac:chgData name="Deborah Favour Akhabue" userId="a8880fc61f05ac60" providerId="LiveId" clId="{4AAFB36E-676B-47ED-A69D-412E39EC6887}" dt="2026-01-31T20:47:14.192" v="487" actId="478"/>
          <ac:picMkLst>
            <pc:docMk/>
            <pc:sldMk cId="64333915" sldId="260"/>
            <ac:picMk id="5" creationId="{EA45D873-5B1A-4C52-B83F-DA75F72F3109}"/>
          </ac:picMkLst>
        </pc:picChg>
        <pc:picChg chg="add del mod">
          <ac:chgData name="Deborah Favour Akhabue" userId="a8880fc61f05ac60" providerId="LiveId" clId="{4AAFB36E-676B-47ED-A69D-412E39EC6887}" dt="2026-01-31T20:45:25.769" v="476" actId="478"/>
          <ac:picMkLst>
            <pc:docMk/>
            <pc:sldMk cId="64333915" sldId="260"/>
            <ac:picMk id="6" creationId="{2390226C-7364-0185-183F-2F6C295DCC01}"/>
          </ac:picMkLst>
        </pc:picChg>
        <pc:picChg chg="add mod">
          <ac:chgData name="Deborah Favour Akhabue" userId="a8880fc61f05ac60" providerId="LiveId" clId="{4AAFB36E-676B-47ED-A69D-412E39EC6887}" dt="2026-01-31T20:47:42.862" v="495" actId="14100"/>
          <ac:picMkLst>
            <pc:docMk/>
            <pc:sldMk cId="64333915" sldId="260"/>
            <ac:picMk id="8" creationId="{1E8AB8A0-2B46-0E47-D5EC-5A188471084A}"/>
          </ac:picMkLst>
        </pc:picChg>
      </pc:sldChg>
      <pc:sldChg chg="addSp delSp modSp mod">
        <pc:chgData name="Deborah Favour Akhabue" userId="a8880fc61f05ac60" providerId="LiveId" clId="{4AAFB36E-676B-47ED-A69D-412E39EC6887}" dt="2026-01-31T22:32:58.133" v="538"/>
        <pc:sldMkLst>
          <pc:docMk/>
          <pc:sldMk cId="1423674668" sldId="261"/>
        </pc:sldMkLst>
        <pc:spChg chg="mod">
          <ac:chgData name="Deborah Favour Akhabue" userId="a8880fc61f05ac60" providerId="LiveId" clId="{4AAFB36E-676B-47ED-A69D-412E39EC6887}" dt="2026-01-31T08:15:46.908" v="183" actId="255"/>
          <ac:spMkLst>
            <pc:docMk/>
            <pc:sldMk cId="1423674668" sldId="261"/>
            <ac:spMk id="2" creationId="{D17A4803-C811-0F34-6FF3-C58CD1CC4CD1}"/>
          </ac:spMkLst>
        </pc:spChg>
        <pc:spChg chg="mod">
          <ac:chgData name="Deborah Favour Akhabue" userId="a8880fc61f05ac60" providerId="LiveId" clId="{4AAFB36E-676B-47ED-A69D-412E39EC6887}" dt="2026-01-31T22:32:58.133" v="538"/>
          <ac:spMkLst>
            <pc:docMk/>
            <pc:sldMk cId="1423674668" sldId="261"/>
            <ac:spMk id="3" creationId="{829C8681-92E6-B2EB-3962-6ABFF1E43790}"/>
          </ac:spMkLst>
        </pc:spChg>
        <pc:picChg chg="add mod">
          <ac:chgData name="Deborah Favour Akhabue" userId="a8880fc61f05ac60" providerId="LiveId" clId="{4AAFB36E-676B-47ED-A69D-412E39EC6887}" dt="2026-01-31T20:46:11.640" v="486" actId="14100"/>
          <ac:picMkLst>
            <pc:docMk/>
            <pc:sldMk cId="1423674668" sldId="261"/>
            <ac:picMk id="5" creationId="{3FC0147D-0F16-B995-A845-DCD62DE29DBF}"/>
          </ac:picMkLst>
        </pc:picChg>
        <pc:picChg chg="add del mod">
          <ac:chgData name="Deborah Favour Akhabue" userId="a8880fc61f05ac60" providerId="LiveId" clId="{4AAFB36E-676B-47ED-A69D-412E39EC6887}" dt="2026-01-31T08:16:47.025" v="187" actId="478"/>
          <ac:picMkLst>
            <pc:docMk/>
            <pc:sldMk cId="1423674668" sldId="261"/>
            <ac:picMk id="5" creationId="{844D847A-42E4-85F4-B79D-0269D3815B36}"/>
          </ac:picMkLst>
        </pc:picChg>
        <pc:picChg chg="del">
          <ac:chgData name="Deborah Favour Akhabue" userId="a8880fc61f05ac60" providerId="LiveId" clId="{4AAFB36E-676B-47ED-A69D-412E39EC6887}" dt="2026-01-31T08:15:35.481" v="180" actId="478"/>
          <ac:picMkLst>
            <pc:docMk/>
            <pc:sldMk cId="1423674668" sldId="261"/>
            <ac:picMk id="6" creationId="{E2B06BB6-BDFF-83E4-C6FD-B7E04722D966}"/>
          </ac:picMkLst>
        </pc:picChg>
        <pc:picChg chg="add del mod">
          <ac:chgData name="Deborah Favour Akhabue" userId="a8880fc61f05ac60" providerId="LiveId" clId="{4AAFB36E-676B-47ED-A69D-412E39EC6887}" dt="2026-01-31T20:45:30.801" v="477" actId="478"/>
          <ac:picMkLst>
            <pc:docMk/>
            <pc:sldMk cId="1423674668" sldId="261"/>
            <ac:picMk id="7" creationId="{38C4673D-73A2-AB48-3926-91A645D5B794}"/>
          </ac:picMkLst>
        </pc:picChg>
      </pc:sldChg>
      <pc:sldChg chg="addSp delSp modSp mod">
        <pc:chgData name="Deborah Favour Akhabue" userId="a8880fc61f05ac60" providerId="LiveId" clId="{4AAFB36E-676B-47ED-A69D-412E39EC6887}" dt="2026-01-31T22:04:35.557" v="526" actId="14100"/>
        <pc:sldMkLst>
          <pc:docMk/>
          <pc:sldMk cId="779444398" sldId="262"/>
        </pc:sldMkLst>
        <pc:spChg chg="mod">
          <ac:chgData name="Deborah Favour Akhabue" userId="a8880fc61f05ac60" providerId="LiveId" clId="{4AAFB36E-676B-47ED-A69D-412E39EC6887}" dt="2026-01-31T12:49:19.321" v="459" actId="5793"/>
          <ac:spMkLst>
            <pc:docMk/>
            <pc:sldMk cId="779444398" sldId="262"/>
            <ac:spMk id="3" creationId="{CB9CDF37-3281-D8B5-D227-406258024B0C}"/>
          </ac:spMkLst>
        </pc:spChg>
        <pc:picChg chg="del">
          <ac:chgData name="Deborah Favour Akhabue" userId="a8880fc61f05ac60" providerId="LiveId" clId="{4AAFB36E-676B-47ED-A69D-412E39EC6887}" dt="2026-01-31T21:53:58.183" v="496" actId="478"/>
          <ac:picMkLst>
            <pc:docMk/>
            <pc:sldMk cId="779444398" sldId="262"/>
            <ac:picMk id="5" creationId="{BBAAEA9D-A1AE-1AAA-D84E-4CF5B80A623E}"/>
          </ac:picMkLst>
        </pc:picChg>
        <pc:picChg chg="add del mod">
          <ac:chgData name="Deborah Favour Akhabue" userId="a8880fc61f05ac60" providerId="LiveId" clId="{4AAFB36E-676B-47ED-A69D-412E39EC6887}" dt="2026-01-31T22:04:00.678" v="516" actId="478"/>
          <ac:picMkLst>
            <pc:docMk/>
            <pc:sldMk cId="779444398" sldId="262"/>
            <ac:picMk id="6" creationId="{78697943-02B5-EC04-FC78-ED77C6302B76}"/>
          </ac:picMkLst>
        </pc:picChg>
        <pc:picChg chg="add mod">
          <ac:chgData name="Deborah Favour Akhabue" userId="a8880fc61f05ac60" providerId="LiveId" clId="{4AAFB36E-676B-47ED-A69D-412E39EC6887}" dt="2026-01-31T22:04:35.557" v="526" actId="14100"/>
          <ac:picMkLst>
            <pc:docMk/>
            <pc:sldMk cId="779444398" sldId="262"/>
            <ac:picMk id="8" creationId="{A3997F26-B780-A376-2F32-09372B76BAA7}"/>
          </ac:picMkLst>
        </pc:picChg>
      </pc:sldChg>
      <pc:sldChg chg="modSp mod">
        <pc:chgData name="Deborah Favour Akhabue" userId="a8880fc61f05ac60" providerId="LiveId" clId="{4AAFB36E-676B-47ED-A69D-412E39EC6887}" dt="2026-01-31T12:49:55.489" v="462" actId="5793"/>
        <pc:sldMkLst>
          <pc:docMk/>
          <pc:sldMk cId="810493903" sldId="263"/>
        </pc:sldMkLst>
        <pc:spChg chg="mod">
          <ac:chgData name="Deborah Favour Akhabue" userId="a8880fc61f05ac60" providerId="LiveId" clId="{4AAFB36E-676B-47ED-A69D-412E39EC6887}" dt="2026-01-31T12:49:55.489" v="462" actId="5793"/>
          <ac:spMkLst>
            <pc:docMk/>
            <pc:sldMk cId="810493903" sldId="263"/>
            <ac:spMk id="3" creationId="{0308B926-784D-9373-83C9-70E834F055AD}"/>
          </ac:spMkLst>
        </pc:spChg>
      </pc:sldChg>
      <pc:sldChg chg="modSp mod">
        <pc:chgData name="Deborah Favour Akhabue" userId="a8880fc61f05ac60" providerId="LiveId" clId="{4AAFB36E-676B-47ED-A69D-412E39EC6887}" dt="2026-01-31T12:34:12.953" v="445" actId="5793"/>
        <pc:sldMkLst>
          <pc:docMk/>
          <pc:sldMk cId="2565486174" sldId="264"/>
        </pc:sldMkLst>
        <pc:spChg chg="mod">
          <ac:chgData name="Deborah Favour Akhabue" userId="a8880fc61f05ac60" providerId="LiveId" clId="{4AAFB36E-676B-47ED-A69D-412E39EC6887}" dt="2026-01-31T08:57:52.041" v="326" actId="14100"/>
          <ac:spMkLst>
            <pc:docMk/>
            <pc:sldMk cId="2565486174" sldId="264"/>
            <ac:spMk id="2" creationId="{D8F80FC4-14A0-0247-5ADD-4EC64D947CD4}"/>
          </ac:spMkLst>
        </pc:spChg>
        <pc:spChg chg="mod">
          <ac:chgData name="Deborah Favour Akhabue" userId="a8880fc61f05ac60" providerId="LiveId" clId="{4AAFB36E-676B-47ED-A69D-412E39EC6887}" dt="2026-01-31T12:34:12.953" v="445" actId="5793"/>
          <ac:spMkLst>
            <pc:docMk/>
            <pc:sldMk cId="2565486174" sldId="264"/>
            <ac:spMk id="3" creationId="{40B23056-4529-6D66-EFE8-2814D2AD11F2}"/>
          </ac:spMkLst>
        </pc:spChg>
      </pc:sldChg>
      <pc:sldChg chg="modSp mod">
        <pc:chgData name="Deborah Favour Akhabue" userId="a8880fc61f05ac60" providerId="LiveId" clId="{4AAFB36E-676B-47ED-A69D-412E39EC6887}" dt="2026-01-31T12:34:50.073" v="454" actId="14100"/>
        <pc:sldMkLst>
          <pc:docMk/>
          <pc:sldMk cId="182670317" sldId="265"/>
        </pc:sldMkLst>
        <pc:spChg chg="mod">
          <ac:chgData name="Deborah Favour Akhabue" userId="a8880fc61f05ac60" providerId="LiveId" clId="{4AAFB36E-676B-47ED-A69D-412E39EC6887}" dt="2026-01-31T12:34:50.073" v="454" actId="14100"/>
          <ac:spMkLst>
            <pc:docMk/>
            <pc:sldMk cId="182670317" sldId="265"/>
            <ac:spMk id="3" creationId="{405F6759-30B9-35B3-30AC-3C4D8EFDD69C}"/>
          </ac:spMkLst>
        </pc:spChg>
      </pc:sldChg>
      <pc:sldChg chg="modSp add mod">
        <pc:chgData name="Deborah Favour Akhabue" userId="a8880fc61f05ac60" providerId="LiveId" clId="{4AAFB36E-676B-47ED-A69D-412E39EC6887}" dt="2026-01-31T22:36:18.111" v="540"/>
        <pc:sldMkLst>
          <pc:docMk/>
          <pc:sldMk cId="2045769404" sldId="266"/>
        </pc:sldMkLst>
        <pc:spChg chg="mod">
          <ac:chgData name="Deborah Favour Akhabue" userId="a8880fc61f05ac60" providerId="LiveId" clId="{4AAFB36E-676B-47ED-A69D-412E39EC6887}" dt="2026-01-31T08:11:35.698" v="118" actId="20577"/>
          <ac:spMkLst>
            <pc:docMk/>
            <pc:sldMk cId="2045769404" sldId="266"/>
            <ac:spMk id="2" creationId="{5D7C4D1B-8D28-C4AC-4E7F-E2A95CB4D1C7}"/>
          </ac:spMkLst>
        </pc:spChg>
        <pc:spChg chg="mod">
          <ac:chgData name="Deborah Favour Akhabue" userId="a8880fc61f05ac60" providerId="LiveId" clId="{4AAFB36E-676B-47ED-A69D-412E39EC6887}" dt="2026-01-31T22:36:18.111" v="540"/>
          <ac:spMkLst>
            <pc:docMk/>
            <pc:sldMk cId="2045769404" sldId="266"/>
            <ac:spMk id="3" creationId="{B4C670ED-DB66-8A4A-3374-FD82315263B2}"/>
          </ac:spMkLst>
        </pc:spChg>
      </pc:sldChg>
      <pc:sldChg chg="modSp new mod">
        <pc:chgData name="Deborah Favour Akhabue" userId="a8880fc61f05ac60" providerId="LiveId" clId="{4AAFB36E-676B-47ED-A69D-412E39EC6887}" dt="2026-02-01T09:24:45.231" v="549" actId="20577"/>
        <pc:sldMkLst>
          <pc:docMk/>
          <pc:sldMk cId="2305041120" sldId="267"/>
        </pc:sldMkLst>
        <pc:spChg chg="mod">
          <ac:chgData name="Deborah Favour Akhabue" userId="a8880fc61f05ac60" providerId="LiveId" clId="{4AAFB36E-676B-47ED-A69D-412E39EC6887}" dt="2026-01-31T11:44:17.608" v="397" actId="113"/>
          <ac:spMkLst>
            <pc:docMk/>
            <pc:sldMk cId="2305041120" sldId="267"/>
            <ac:spMk id="2" creationId="{05DBEADA-2354-B4E9-C08F-65F04D527837}"/>
          </ac:spMkLst>
        </pc:spChg>
        <pc:spChg chg="mod">
          <ac:chgData name="Deborah Favour Akhabue" userId="a8880fc61f05ac60" providerId="LiveId" clId="{4AAFB36E-676B-47ED-A69D-412E39EC6887}" dt="2026-02-01T09:24:45.231" v="549" actId="20577"/>
          <ac:spMkLst>
            <pc:docMk/>
            <pc:sldMk cId="2305041120" sldId="267"/>
            <ac:spMk id="3" creationId="{ACEC0472-4FEE-E520-7359-3B767FCDE2B0}"/>
          </ac:spMkLst>
        </pc:spChg>
      </pc:sldChg>
      <pc:sldChg chg="modSp add del mod">
        <pc:chgData name="Deborah Favour Akhabue" userId="a8880fc61f05ac60" providerId="LiveId" clId="{4AAFB36E-676B-47ED-A69D-412E39EC6887}" dt="2026-01-31T12:02:26.540" v="412" actId="2696"/>
        <pc:sldMkLst>
          <pc:docMk/>
          <pc:sldMk cId="2113826907" sldId="268"/>
        </pc:sldMkLst>
        <pc:spChg chg="mod">
          <ac:chgData name="Deborah Favour Akhabue" userId="a8880fc61f05ac60" providerId="LiveId" clId="{4AAFB36E-676B-47ED-A69D-412E39EC6887}" dt="2026-01-31T08:41:21.663" v="263" actId="20577"/>
          <ac:spMkLst>
            <pc:docMk/>
            <pc:sldMk cId="2113826907" sldId="268"/>
            <ac:spMk id="2" creationId="{7FAA68F7-A406-8B8A-A670-014A91FF9317}"/>
          </ac:spMkLst>
        </pc:spChg>
        <pc:spChg chg="mod">
          <ac:chgData name="Deborah Favour Akhabue" userId="a8880fc61f05ac60" providerId="LiveId" clId="{4AAFB36E-676B-47ED-A69D-412E39EC6887}" dt="2026-01-31T08:38:11.183" v="242" actId="12"/>
          <ac:spMkLst>
            <pc:docMk/>
            <pc:sldMk cId="2113826907" sldId="268"/>
            <ac:spMk id="3" creationId="{6D2CDE77-0D44-CBA8-58AA-364955F3CA7D}"/>
          </ac:spMkLst>
        </pc:spChg>
      </pc:sldChg>
      <pc:sldChg chg="modSp add mod">
        <pc:chgData name="Deborah Favour Akhabue" userId="a8880fc61f05ac60" providerId="LiveId" clId="{4AAFB36E-676B-47ED-A69D-412E39EC6887}" dt="2026-01-31T12:03:29.126" v="423" actId="20577"/>
        <pc:sldMkLst>
          <pc:docMk/>
          <pc:sldMk cId="1230628336" sldId="269"/>
        </pc:sldMkLst>
        <pc:spChg chg="mod">
          <ac:chgData name="Deborah Favour Akhabue" userId="a8880fc61f05ac60" providerId="LiveId" clId="{4AAFB36E-676B-47ED-A69D-412E39EC6887}" dt="2026-01-31T12:02:41.410" v="415" actId="113"/>
          <ac:spMkLst>
            <pc:docMk/>
            <pc:sldMk cId="1230628336" sldId="269"/>
            <ac:spMk id="2" creationId="{87A6579F-96A9-7E04-A41C-FB9465EE8F60}"/>
          </ac:spMkLst>
        </pc:spChg>
        <pc:spChg chg="mod">
          <ac:chgData name="Deborah Favour Akhabue" userId="a8880fc61f05ac60" providerId="LiveId" clId="{4AAFB36E-676B-47ED-A69D-412E39EC6887}" dt="2026-01-31T12:03:29.126" v="423" actId="20577"/>
          <ac:spMkLst>
            <pc:docMk/>
            <pc:sldMk cId="1230628336" sldId="269"/>
            <ac:spMk id="3" creationId="{20FAEA8D-9C97-E7E9-A5AD-876B96881D16}"/>
          </ac:spMkLst>
        </pc:spChg>
      </pc:sldChg>
      <pc:sldChg chg="modSp add del mod">
        <pc:chgData name="Deborah Favour Akhabue" userId="a8880fc61f05ac60" providerId="LiveId" clId="{4AAFB36E-676B-47ED-A69D-412E39EC6887}" dt="2026-01-31T12:03:36.226" v="424" actId="2696"/>
        <pc:sldMkLst>
          <pc:docMk/>
          <pc:sldMk cId="2158621149" sldId="270"/>
        </pc:sldMkLst>
        <pc:spChg chg="mod">
          <ac:chgData name="Deborah Favour Akhabue" userId="a8880fc61f05ac60" providerId="LiveId" clId="{4AAFB36E-676B-47ED-A69D-412E39EC6887}" dt="2026-01-31T08:44:39.704" v="284" actId="27636"/>
          <ac:spMkLst>
            <pc:docMk/>
            <pc:sldMk cId="2158621149" sldId="270"/>
            <ac:spMk id="3" creationId="{DAF1447D-8518-79DD-9D3D-325EE02B9790}"/>
          </ac:spMkLst>
        </pc:spChg>
      </pc:sldChg>
      <pc:sldChg chg="modSp add mod">
        <pc:chgData name="Deborah Favour Akhabue" userId="a8880fc61f05ac60" providerId="LiveId" clId="{4AAFB36E-676B-47ED-A69D-412E39EC6887}" dt="2026-01-31T12:32:34.354" v="436" actId="5793"/>
        <pc:sldMkLst>
          <pc:docMk/>
          <pc:sldMk cId="142530143" sldId="271"/>
        </pc:sldMkLst>
        <pc:spChg chg="mod">
          <ac:chgData name="Deborah Favour Akhabue" userId="a8880fc61f05ac60" providerId="LiveId" clId="{4AAFB36E-676B-47ED-A69D-412E39EC6887}" dt="2026-01-31T08:55:01.503" v="307" actId="20577"/>
          <ac:spMkLst>
            <pc:docMk/>
            <pc:sldMk cId="142530143" sldId="271"/>
            <ac:spMk id="2" creationId="{051156C0-4D53-2522-EF69-FEF82FF2E47A}"/>
          </ac:spMkLst>
        </pc:spChg>
        <pc:spChg chg="mod">
          <ac:chgData name="Deborah Favour Akhabue" userId="a8880fc61f05ac60" providerId="LiveId" clId="{4AAFB36E-676B-47ED-A69D-412E39EC6887}" dt="2026-01-31T12:32:34.354" v="436" actId="5793"/>
          <ac:spMkLst>
            <pc:docMk/>
            <pc:sldMk cId="142530143" sldId="271"/>
            <ac:spMk id="3" creationId="{53854DBF-EB40-C228-A809-633F4CD58E95}"/>
          </ac:spMkLst>
        </pc:spChg>
      </pc:sldChg>
      <pc:sldChg chg="modSp add del mod">
        <pc:chgData name="Deborah Favour Akhabue" userId="a8880fc61f05ac60" providerId="LiveId" clId="{4AAFB36E-676B-47ED-A69D-412E39EC6887}" dt="2026-01-31T12:32:42.826" v="437" actId="2696"/>
        <pc:sldMkLst>
          <pc:docMk/>
          <pc:sldMk cId="852264895" sldId="272"/>
        </pc:sldMkLst>
        <pc:spChg chg="mod">
          <ac:chgData name="Deborah Favour Akhabue" userId="a8880fc61f05ac60" providerId="LiveId" clId="{4AAFB36E-676B-47ED-A69D-412E39EC6887}" dt="2026-01-31T08:56:03.843" v="319" actId="20577"/>
          <ac:spMkLst>
            <pc:docMk/>
            <pc:sldMk cId="852264895" sldId="272"/>
            <ac:spMk id="3" creationId="{9B580B0D-7AB9-629E-79F2-AB91FE256839}"/>
          </ac:spMkLst>
        </pc:spChg>
      </pc:sldChg>
      <pc:sldChg chg="modSp add del">
        <pc:chgData name="Deborah Favour Akhabue" userId="a8880fc61f05ac60" providerId="LiveId" clId="{4AAFB36E-676B-47ED-A69D-412E39EC6887}" dt="2026-01-31T08:55:48.390" v="313" actId="2696"/>
        <pc:sldMkLst>
          <pc:docMk/>
          <pc:sldMk cId="3076101253" sldId="272"/>
        </pc:sldMkLst>
        <pc:spChg chg="mod">
          <ac:chgData name="Deborah Favour Akhabue" userId="a8880fc61f05ac60" providerId="LiveId" clId="{4AAFB36E-676B-47ED-A69D-412E39EC6887}" dt="2026-01-31T08:55:38.463" v="312"/>
          <ac:spMkLst>
            <pc:docMk/>
            <pc:sldMk cId="3076101253" sldId="272"/>
            <ac:spMk id="3" creationId="{58688F77-D5CA-5856-A635-64350366D2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74F07-86DF-4F2A-BC2D-113971FF904D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21606-9B66-4548-BE73-7CCA4D21A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6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1606-9B66-4548-BE73-7CCA4D21AB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48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1606-9B66-4548-BE73-7CCA4D21AB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6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6385-59BC-548E-6EDF-199626EBC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3046-93BD-D1AD-9515-ACCC5CA9B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1ADD0-91FC-1494-8119-B334FF00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9910B-CFB0-1E45-78F4-79349203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AE8A3-FF78-9A93-577C-5C397980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8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25C8-1F9D-D8DD-D464-91A93CA5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F0D5-3641-8E2D-75E1-0A7FD16B2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864CA-876C-4E15-E562-EB141368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F3FC0-0625-5813-05EB-38845C0D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540AD-5E2C-BEED-69E3-A9C4BDA3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8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8602-8BC5-DB56-F18D-7DA78E29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64525-3AD4-2789-F4AA-5C1BDE741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E8C8-EB23-AAA4-C74F-5B15A81F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23E46-77DB-E01B-3FC4-EB301AA4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17599-E78B-20C2-6C1A-435E05B2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6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07D9-3294-3525-E524-991636C5C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F73A8-E65A-BAE0-B80D-4D8166837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C7C56-1B82-A25A-4DCF-E80CECF23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0E-DF3F-C2D0-9AE2-0A55A028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83C63-1792-772D-8814-DD775EC9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658C4-3CFB-A299-6F2F-3EC2D8E2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3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A6D4C-5AE2-9A68-6ADB-59A7C5298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93E52-D2BE-2E96-8D90-33826B86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A5962-ACF8-89BE-740E-EFA033FA9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B76CE-D3BA-34CE-6264-56A663BAC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661BF-526D-3AE8-320B-84F2342D0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DA54ED-F086-DD05-319F-A6A5F356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860F80-B810-4E08-BFE3-78CC4E52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C524A-ACA1-DD53-209D-76EE7BC9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9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C121-B7B4-F524-4FD5-C85BB41A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602B5-20F1-2CA5-EED5-EC80320D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42747-D388-B5D9-A3C4-B1E967EC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D78E5-BB37-5728-76DF-3E554A7F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5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7B386-D9C2-CC60-CAE4-5DB16A17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479E8-9693-8D43-946D-FC4759A7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C82BF-AB12-8E74-A9D7-F695758E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5C74-3190-28FE-BB73-BBBA2067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2118-C6AF-2F96-0B3C-67528BB51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D9183-98D1-357D-4DEC-1E235B061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38F84-00F5-5EAF-DDDE-D4BF31FA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26E76-BB08-DB46-FD4F-0228D16D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1C4F4-3A7B-D2F2-478D-2E5FB46A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5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E1B1-E953-432A-B00C-429EBFE0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ACC42-9A5F-2BA5-29AD-6DECB7313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944C5-7BB3-D8ED-B780-12CF4F5A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74056-2307-1440-1670-A40EC8AD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89479-0565-B0C1-932D-06EDD138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4A643-6D61-E1C4-43A4-6C799458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1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B4C0-C8FE-BC26-D093-C1EC0E28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FEB17-A01E-0F7F-0CC2-58F0A91D2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DCB4E-4946-9417-DFF3-189D817B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99267-0DDE-ED57-0009-EBF5C61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87E2-55FC-CEB7-68EE-D6A0CA53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2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DEDBB-3910-276C-5F6D-6A0AA88AA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B71B6-F4B8-453B-68A6-73B71B576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C2DE-5849-37C5-3E56-D96A4000F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3EBBE-38DF-58FE-88A1-E691A4AD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42826-BC9D-07B3-9B72-3C67BD62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20B48-3D21-4E9B-8CC5-BCDE4E89E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650C8-7F0B-AAED-E0E8-6F9CD9E0E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702EC-4A79-FE6A-56D3-618B610EB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B789F-130C-49D5-99CA-ECB6B55813D5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FF14C-9B98-27FE-ADB3-FFD03B8C5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2180F-451B-9E01-94C4-7EE635D7E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2781B-B33C-40C4-AEE1-58384B2BA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2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D3E9-00CF-C032-813F-64B36920B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2" y="87682"/>
            <a:ext cx="11962356" cy="1655763"/>
          </a:xfrm>
        </p:spPr>
        <p:txBody>
          <a:bodyPr>
            <a:noAutofit/>
          </a:bodyPr>
          <a:lstStyle/>
          <a:p>
            <a:r>
              <a:rPr lang="en-US" b="1" dirty="0"/>
              <a:t>Healthcare Business Intelligence | Revenue Strategy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573D4-91EF-7EFD-AD51-EFA4BB3AF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80777"/>
            <a:ext cx="9144000" cy="3219189"/>
          </a:xfrm>
        </p:spPr>
        <p:txBody>
          <a:bodyPr/>
          <a:lstStyle/>
          <a:p>
            <a:r>
              <a:rPr lang="en-US" sz="3200" dirty="0"/>
              <a:t>Annual Wellness Screening Program</a:t>
            </a:r>
            <a:br>
              <a:rPr lang="en-US" sz="3200" dirty="0"/>
            </a:br>
            <a:r>
              <a:rPr lang="en-US" sz="3200" dirty="0"/>
              <a:t>12-Week Pilot Analysis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Deborah Akhabue</a:t>
            </a:r>
            <a:br>
              <a:rPr lang="en-US" dirty="0"/>
            </a:br>
            <a:r>
              <a:rPr lang="en-US" dirty="0"/>
              <a:t>Healthcare Data Analyst</a:t>
            </a:r>
          </a:p>
        </p:txBody>
      </p:sp>
    </p:spTree>
    <p:extLst>
      <p:ext uri="{BB962C8B-B14F-4D97-AF65-F5344CB8AC3E}">
        <p14:creationId xmlns:p14="http://schemas.microsoft.com/office/powerpoint/2010/main" val="388056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EBDE-A72C-2EE1-341F-A940F618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61"/>
            <a:ext cx="10515600" cy="97702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Business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C1568-DA76-79F2-15B7-A7E3EAB7F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1528175"/>
            <a:ext cx="11711835" cy="5204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hospital ran a 12-week pilot of the Annual Wellness Screening Program to see if it can work in the long term.</a:t>
            </a:r>
          </a:p>
          <a:p>
            <a:pPr marL="0" indent="0">
              <a:buNone/>
            </a:pPr>
            <a:r>
              <a:rPr lang="en-US" dirty="0"/>
              <a:t>Leadership wants to understand: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Which pathway brings in the most patients</a:t>
            </a:r>
          </a:p>
          <a:p>
            <a:r>
              <a:rPr lang="en-US" dirty="0"/>
              <a:t>Which pathway generates the most revenue per patient</a:t>
            </a:r>
          </a:p>
          <a:p>
            <a:r>
              <a:rPr lang="en-US" dirty="0"/>
              <a:t>Whether spending more staff time brings enough financial return</a:t>
            </a:r>
          </a:p>
          <a:p>
            <a:r>
              <a:rPr lang="en-US" dirty="0"/>
              <a:t>How enrollment and revenue changed over the 12 weeks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answers will guide decisions about expanding the program.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86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E7B9-AB0E-0D0C-3623-9192FD4B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4043-04FF-C5F6-91A3-425E7A181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2" y="87683"/>
            <a:ext cx="11962356" cy="1014608"/>
          </a:xfrm>
        </p:spPr>
        <p:txBody>
          <a:bodyPr>
            <a:normAutofit/>
          </a:bodyPr>
          <a:lstStyle/>
          <a:p>
            <a:r>
              <a:rPr lang="en-US" sz="4000" b="1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31411-015F-AF02-9B0A-0AF2521AE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2" y="1678489"/>
            <a:ext cx="11962356" cy="5091828"/>
          </a:xfrm>
        </p:spPr>
        <p:txBody>
          <a:bodyPr>
            <a:normAutofit/>
          </a:bodyPr>
          <a:lstStyle/>
          <a:p>
            <a:r>
              <a:rPr lang="en-US" sz="3200" dirty="0"/>
              <a:t>A 12-week pilot was conducted to assess whether the wellness program is operationally and financially sustainable.</a:t>
            </a:r>
          </a:p>
          <a:p>
            <a:endParaRPr lang="en-US" sz="3200" dirty="0"/>
          </a:p>
          <a:p>
            <a:r>
              <a:rPr lang="en-US" sz="3200" dirty="0"/>
              <a:t>A total of 12,000 patients enrolled through three different access pathways. Each pathway required a different level of staff involvement.</a:t>
            </a:r>
          </a:p>
          <a:p>
            <a:endParaRPr lang="en-US" sz="3200" dirty="0"/>
          </a:p>
          <a:p>
            <a:r>
              <a:rPr lang="en-US" sz="3200" dirty="0"/>
              <a:t>The goal was to understand how pathway design affects patient volume, revenue performance, and long-term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136112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921E-C8DB-908B-B0BF-54A8A626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4D1B-8D28-C4AC-4E7F-E2A95CB4D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2" y="87683"/>
            <a:ext cx="11962356" cy="1014608"/>
          </a:xfrm>
        </p:spPr>
        <p:txBody>
          <a:bodyPr>
            <a:normAutofit/>
          </a:bodyPr>
          <a:lstStyle/>
          <a:p>
            <a:r>
              <a:rPr lang="en-US" sz="4000" b="1" dirty="0"/>
              <a:t>Executive Summary Contd.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670ED-DB66-8A4A-3374-FD8231526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2" y="1102291"/>
            <a:ext cx="11962356" cy="56680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200" dirty="0"/>
              <a:t>This analysis focuses on:</a:t>
            </a:r>
          </a:p>
          <a:p>
            <a:pPr algn="l"/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Patient enrollment volume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Total revenue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Revenue per patient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Contribution margin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Revenue distribution patterns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Weekly growth trends</a:t>
            </a:r>
          </a:p>
          <a:p>
            <a:pPr algn="l"/>
            <a:endParaRPr lang="en-US" sz="3200" dirty="0"/>
          </a:p>
          <a:p>
            <a:pPr algn="l"/>
            <a:r>
              <a:rPr lang="en-US" sz="3200" b="1" dirty="0"/>
              <a:t>Key Insight:</a:t>
            </a:r>
            <a:br>
              <a:rPr lang="en-US" sz="3200" dirty="0"/>
            </a:br>
            <a:r>
              <a:rPr lang="en-US" sz="3200" dirty="0"/>
              <a:t>Digital access drives higher patient volume, while pathways that provide more personal support generate higher revenue per patient. A balanced approach supports sustainable growth.</a:t>
            </a:r>
          </a:p>
        </p:txBody>
      </p:sp>
    </p:spTree>
    <p:extLst>
      <p:ext uri="{BB962C8B-B14F-4D97-AF65-F5344CB8AC3E}">
        <p14:creationId xmlns:p14="http://schemas.microsoft.com/office/powerpoint/2010/main" val="204576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0B16-A3BB-0430-FFBE-DCE71480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662F8-99E9-90BA-35E3-278C15EC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21" y="1825624"/>
            <a:ext cx="11786991" cy="4763065"/>
          </a:xfrm>
        </p:spPr>
        <p:txBody>
          <a:bodyPr>
            <a:normAutofit/>
          </a:bodyPr>
          <a:lstStyle/>
          <a:p>
            <a:r>
              <a:rPr lang="en-US" dirty="0"/>
              <a:t>12,000 patient enrollments</a:t>
            </a:r>
          </a:p>
          <a:p>
            <a:r>
              <a:rPr lang="en-US" dirty="0"/>
              <a:t>12-week pilot period</a:t>
            </a:r>
          </a:p>
          <a:p>
            <a:r>
              <a:rPr lang="en-US" dirty="0"/>
              <a:t>3 access pathways</a:t>
            </a:r>
          </a:p>
          <a:p>
            <a:r>
              <a:rPr lang="en-US" dirty="0"/>
              <a:t>Service revenue per patient</a:t>
            </a:r>
          </a:p>
          <a:p>
            <a:r>
              <a:rPr lang="en-US" dirty="0"/>
              <a:t>Estimated pathway cost</a:t>
            </a:r>
          </a:p>
          <a:p>
            <a:r>
              <a:rPr lang="en-US" dirty="0"/>
              <a:t>Services used per patient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All results are based on a structured simulation of a mid-size private hospital.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87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EE07-E64E-108D-7884-1B7DC4A6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62" y="1"/>
            <a:ext cx="11945276" cy="8016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How patient count differs across access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E85C-C3BE-C19C-DED1-FC3B076E9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62" y="1027134"/>
            <a:ext cx="6415224" cy="5480262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During the 12-week pilot, Digital Self-Enrollment recorded the highest patient volume. Physician-Initiated Enrollment followed, while Care Coordinator–Guided Enrollment had the lowest volume.</a:t>
            </a:r>
          </a:p>
          <a:p>
            <a:endParaRPr lang="en-US" sz="2400" dirty="0"/>
          </a:p>
          <a:p>
            <a:r>
              <a:rPr lang="en-US" sz="2400" dirty="0"/>
              <a:t>Digital enrollment required minimal staff involvement, which made it easier to scale. The other pathways depended more on clinician and coordinator time, which limited how many patients could be enrolled.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Pathways that require more staff time enrolled fewer patients but provided more personal support.</a:t>
            </a:r>
            <a:endParaRPr lang="en-US" sz="13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E8AB8A0-2B46-0E47-D5EC-5A1884710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696" y="1226492"/>
            <a:ext cx="5717942" cy="426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B33B2-1910-ED21-4DDE-183C973F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4803-C811-0F34-6FF3-C58CD1CC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62" y="187891"/>
            <a:ext cx="11838994" cy="776614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The spread of revenue across each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C8681-92E6-B2EB-3962-6ABFF1E43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61" y="1290181"/>
            <a:ext cx="6866161" cy="5217215"/>
          </a:xfrm>
        </p:spPr>
        <p:txBody>
          <a:bodyPr anchor="t">
            <a:normAutofit fontScale="92500" lnSpcReduction="10000"/>
          </a:bodyPr>
          <a:lstStyle/>
          <a:p>
            <a:r>
              <a:rPr lang="en-US" dirty="0"/>
              <a:t>Revenue varies clearly across the three pathways.</a:t>
            </a:r>
          </a:p>
          <a:p>
            <a:r>
              <a:rPr lang="en-US" dirty="0"/>
              <a:t>Care Coordinator–Guided Enrollment shows the widest revenue range, meaning patients in this pathway often selected higher-value services.</a:t>
            </a:r>
          </a:p>
          <a:p>
            <a:r>
              <a:rPr lang="en-US" dirty="0"/>
              <a:t>Digital Self-Enrollment shows a moderate revenue range, with most patients choosing mid-range packages.</a:t>
            </a:r>
          </a:p>
          <a:p>
            <a:r>
              <a:rPr lang="en-US" dirty="0"/>
              <a:t>Physician-Initiated Enrollment shows the narrowest range and generally lower revenue per patient.</a:t>
            </a:r>
          </a:p>
          <a:p>
            <a:r>
              <a:rPr lang="en-US" dirty="0"/>
              <a:t>Patients who receive more personal support tend to choose higher-value services.</a:t>
            </a:r>
            <a:endParaRPr lang="en-US" sz="13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1CC83A-9CE4-991E-53C1-71AD8E7AB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553D78-0B40-98BD-F643-610765643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7DA2FC-4676-7D0E-E4C0-7F5634DD5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FC0147D-0F16-B995-A845-DCD62DE29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522" y="1290181"/>
            <a:ext cx="5079116" cy="491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7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74581-CE5C-46A8-14E4-817F7FD0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3816-DAE4-DBF2-C090-A5318CBA6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62" y="0"/>
            <a:ext cx="8294128" cy="1528175"/>
          </a:xfrm>
        </p:spPr>
        <p:txBody>
          <a:bodyPr anchor="b">
            <a:noAutofit/>
          </a:bodyPr>
          <a:lstStyle/>
          <a:p>
            <a:r>
              <a:rPr lang="en-US" sz="4800" b="1" dirty="0"/>
              <a:t>Adoption and Revenue Growth Over the 12-Week 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DF37-3281-D8B5-D227-406258024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62" y="1878904"/>
            <a:ext cx="6333994" cy="4628492"/>
          </a:xfrm>
        </p:spPr>
        <p:txBody>
          <a:bodyPr anchor="t">
            <a:normAutofit/>
          </a:bodyPr>
          <a:lstStyle/>
          <a:p>
            <a:r>
              <a:rPr lang="en-US" dirty="0"/>
              <a:t>Revenue increased steadily across the 12-week pilot, indicating stable and growing program adoption.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shows that patient adoption strengthened over time and the program gained momentum as the pilot progressed.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AAA3FB-4E96-387E-C51E-675B0A017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698707-530A-F9E9-9AF7-2AD0F9DA6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3B1D09-B99A-3E53-FA95-48F5FFBA6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3997F26-B780-A376-2F32-09372B76B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222" y="1342779"/>
            <a:ext cx="5705416" cy="516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4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EADA-2354-B4E9-C08F-65F04D52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38" y="365125"/>
            <a:ext cx="11937304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Key Financial Indicator: Revenue Yield per Enrolled Patient (RYP)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C0472-4FEE-E520-7359-3B767FCDE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1690688"/>
            <a:ext cx="11599101" cy="48021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RYP measures the average revenue generated per enrolled patient.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12-Week Results: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Digital Self-Enrollment: ~$875 per patient</a:t>
            </a:r>
          </a:p>
          <a:p>
            <a:r>
              <a:rPr lang="en-US" dirty="0"/>
              <a:t>Physician-Initiated Enrollment: ~$758 per patient</a:t>
            </a:r>
          </a:p>
          <a:p>
            <a:r>
              <a:rPr lang="en-US" dirty="0"/>
              <a:t>Care Coordinator–Guided Enrollment: </a:t>
            </a:r>
            <a:r>
              <a:rPr lang="en-US"/>
              <a:t>~$1,390 </a:t>
            </a:r>
            <a:r>
              <a:rPr lang="en-US" dirty="0"/>
              <a:t>per patient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Care Coordinator–Guided Enrollment generates the strongest revenue per patient, even though it enrolls fewer patients overall.</a:t>
            </a:r>
          </a:p>
        </p:txBody>
      </p:sp>
    </p:spTree>
    <p:extLst>
      <p:ext uri="{BB962C8B-B14F-4D97-AF65-F5344CB8AC3E}">
        <p14:creationId xmlns:p14="http://schemas.microsoft.com/office/powerpoint/2010/main" val="230504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19D7-31EA-5A22-A415-8D0297512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579F-96A9-7E04-A41C-FB9465EE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472"/>
            <a:ext cx="12062564" cy="12839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Key Financial Indicator: Contribution Margin per Patient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EA8D-9C97-E7E9-A5AD-876B96881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364" y="1825625"/>
            <a:ext cx="11887200" cy="4925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Contribution margin shows how much revenue remains after pathway-specific costs are deducted.</a:t>
            </a:r>
          </a:p>
          <a:p>
            <a:pPr marL="0" indent="0">
              <a:buNone/>
            </a:pPr>
            <a:r>
              <a:rPr lang="en-US" dirty="0"/>
              <a:t>12-Week Results: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Digital Self-Enrollment: Moderate margin driven by scale and low cost</a:t>
            </a:r>
          </a:p>
          <a:p>
            <a:r>
              <a:rPr lang="en-US" dirty="0"/>
              <a:t>Physician-Initiated Enrollment: Lower margin</a:t>
            </a:r>
          </a:p>
          <a:p>
            <a:r>
              <a:rPr lang="en-US" dirty="0"/>
              <a:t>Care Coordinator–Guided Enrollment: Strongest margin per patient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Higher engagement through Care Coordinator–Guided Enrollment justifies its higher cost because it delivers the strongest financial return per patient.</a:t>
            </a:r>
          </a:p>
        </p:txBody>
      </p:sp>
    </p:spTree>
    <p:extLst>
      <p:ext uri="{BB962C8B-B14F-4D97-AF65-F5344CB8AC3E}">
        <p14:creationId xmlns:p14="http://schemas.microsoft.com/office/powerpoint/2010/main" val="123062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DBE6-7E54-9387-7D9C-A09C2FED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8B926-784D-9373-83C9-70E834F05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937" y="1825625"/>
            <a:ext cx="1149889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Based on the 12-week pilot: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Continue using Revenue Yield per Patient and Contribution Margin as the primary performance measures.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Continue using Digital Self-Enrollment as the primary growth pathway. It enrolled 6,000 patients and generated $5,251,463.17 in total revenue. It is scalable and operationally efficient.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49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B133-3524-B854-2742-61664E1B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156C0-4D53-2522-EF69-FEF82FF2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08" y="150312"/>
            <a:ext cx="11937304" cy="116492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Recommendations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54DBF-EB40-C228-A809-633F4CD58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943" y="1415441"/>
            <a:ext cx="11736888" cy="5077434"/>
          </a:xfrm>
        </p:spPr>
        <p:txBody>
          <a:bodyPr>
            <a:normAutofit/>
          </a:bodyPr>
          <a:lstStyle/>
          <a:p>
            <a:r>
              <a:rPr lang="en-US" dirty="0"/>
              <a:t>Use Care Coordinator–Guided Enrollment selectively for higher-value patient groups. It enrolled 2,000 patients and generated $2,784,247.54 in revenue, with the highest revenue per patient.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Position Physician-Initiated Enrollment as a supportive pathway. It enrolled 4,000 patients and generated $3,033,640.35 but has lower revenue per patient and limited scalability.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Improve data collection to include service-level cost details and long-term patient retention to support future expansion decisions.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30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0FC4-14A0-0247-5ADD-4EC64D94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34" y="200417"/>
            <a:ext cx="11899726" cy="113986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Assumptions &amp;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23056-4529-6D66-EFE8-2814D2AD1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analysis is based on a 12-week pilot.</a:t>
            </a:r>
          </a:p>
          <a:p>
            <a:pPr marL="0" indent="0">
              <a:buNone/>
            </a:pPr>
            <a:r>
              <a:rPr lang="en-US" dirty="0"/>
              <a:t>The following were not included: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Payer mix differences</a:t>
            </a:r>
          </a:p>
          <a:p>
            <a:r>
              <a:rPr lang="en-US" dirty="0"/>
              <a:t>Long-term retention</a:t>
            </a:r>
          </a:p>
          <a:p>
            <a:r>
              <a:rPr lang="en-US" dirty="0"/>
              <a:t>Clinical outcome impact</a:t>
            </a:r>
          </a:p>
          <a:p>
            <a:r>
              <a:rPr lang="en-US" dirty="0"/>
              <a:t>Detailed service-level cost breakdown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factors should be included in future evaluations.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486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797B-9137-995C-487F-1F80286C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6759-30B9-35B3-30AC-3C4D8EFDD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890" y="1825625"/>
            <a:ext cx="11837096" cy="4763065"/>
          </a:xfrm>
        </p:spPr>
        <p:txBody>
          <a:bodyPr/>
          <a:lstStyle/>
          <a:p>
            <a:r>
              <a:rPr lang="en-US" dirty="0"/>
              <a:t>The 12-week pilot shows that the way patients enroll affects both patient volume and financial performance.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Digital pathways drive scale. Higher-engagement pathways drive stronger revenue per patient.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both strategically can help the hospital expand the program in a sustainable way.</a:t>
            </a:r>
          </a:p>
        </p:txBody>
      </p:sp>
    </p:spTree>
    <p:extLst>
      <p:ext uri="{BB962C8B-B14F-4D97-AF65-F5344CB8AC3E}">
        <p14:creationId xmlns:p14="http://schemas.microsoft.com/office/powerpoint/2010/main" val="18267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804</Words>
  <Application>Microsoft Office PowerPoint</Application>
  <PresentationFormat>Widescreen</PresentationFormat>
  <Paragraphs>106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Healthcare Business Intelligence | Revenue Strategy Simulation</vt:lpstr>
      <vt:lpstr>Business Goals</vt:lpstr>
      <vt:lpstr>Executive Summary</vt:lpstr>
      <vt:lpstr>Executive Summary Contd.</vt:lpstr>
      <vt:lpstr>Data Overview</vt:lpstr>
      <vt:lpstr>How patient count differs across access pathways</vt:lpstr>
      <vt:lpstr>The spread of revenue across each pathway</vt:lpstr>
      <vt:lpstr>Adoption and Revenue Growth Over the 12-Week Pilot</vt:lpstr>
      <vt:lpstr>Key Financial Indicator: Revenue Yield per Enrolled Patient (RYP)</vt:lpstr>
      <vt:lpstr>Key Financial Indicator: Contribution Margin per Patient</vt:lpstr>
      <vt:lpstr>Recommendations</vt:lpstr>
      <vt:lpstr>Recommendations Contd.</vt:lpstr>
      <vt:lpstr>Assumptions &amp; Considerations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Deborah Favour Akhabue</dc:creator>
  <cp:lastModifiedBy>Deborah Favour Akhabue</cp:lastModifiedBy>
  <cp:revision>1</cp:revision>
  <dcterms:created xsi:type="dcterms:W3CDTF">2026-01-31T05:36:11Z</dcterms:created>
  <dcterms:modified xsi:type="dcterms:W3CDTF">2026-02-01T09:24:47Z</dcterms:modified>
</cp:coreProperties>
</file>